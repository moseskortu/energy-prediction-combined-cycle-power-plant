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hfE+KBD2W1U7U1WofXM9xNJfTg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B7FA8"/>
          </a:solidFill>
          <a:ln cap="flat" cmpd="sng" w="12700">
            <a:solidFill>
              <a:srgbClr val="1B7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201168" y="0"/>
            <a:ext cx="8942832" cy="64008"/>
          </a:xfrm>
          <a:prstGeom prst="rect">
            <a:avLst/>
          </a:prstGeom>
          <a:solidFill>
            <a:srgbClr val="1B7FA8"/>
          </a:solidFill>
          <a:ln cap="flat" cmpd="sng" w="12700">
            <a:solidFill>
              <a:srgbClr val="1B7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201168" y="5079492"/>
            <a:ext cx="8942832" cy="64008"/>
          </a:xfrm>
          <a:prstGeom prst="rect">
            <a:avLst/>
          </a:prstGeom>
          <a:solidFill>
            <a:srgbClr val="1B7FA8"/>
          </a:solidFill>
          <a:ln cap="flat" cmpd="sng" w="12700">
            <a:solidFill>
              <a:srgbClr val="1B7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" name="Google Shape;1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749808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/>
          <p:nvPr/>
        </p:nvSpPr>
        <p:spPr>
          <a:xfrm>
            <a:off x="475488" y="1554480"/>
            <a:ext cx="5394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Evaluation &amp; Selection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75488" y="2267712"/>
            <a:ext cx="5394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AEE0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48AEE0"/>
                </a:solidFill>
                <a:latin typeface="Calibri"/>
                <a:ea typeface="Calibri"/>
                <a:cs typeface="Calibri"/>
                <a:sym typeface="Calibri"/>
              </a:rPr>
              <a:t>Energy Output Prediction for Combined Cycle Power Plant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75488" y="2944368"/>
            <a:ext cx="4114800" cy="36576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475488" y="3072384"/>
            <a:ext cx="5394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Comparative Analysis:  </a:t>
            </a:r>
            <a:r>
              <a:rPr b="1" i="0" lang="en-US" sz="1400" u="none" cap="none" strike="noStrike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  <a:t>Linear Regression  vs.  Random Forest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475488" y="3584448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Moses Bargue Kortu Jr, </a:t>
            </a:r>
            <a:r>
              <a:rPr b="0" i="1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Data Scientist &amp; </a:t>
            </a:r>
            <a:r>
              <a:rPr i="1" lang="en-US" sz="1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Product Manager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989320" y="731520"/>
            <a:ext cx="2834640" cy="4160520"/>
          </a:xfrm>
          <a:prstGeom prst="rect">
            <a:avLst/>
          </a:prstGeom>
          <a:solidFill>
            <a:srgbClr val="132438"/>
          </a:solidFill>
          <a:ln cap="flat" cmpd="sng" w="19050">
            <a:solidFill>
              <a:srgbClr val="1B7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5989320" y="914400"/>
            <a:ext cx="2834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AEE0"/>
              </a:buClr>
              <a:buSzPts val="5000"/>
              <a:buFont typeface="Calibri"/>
              <a:buNone/>
            </a:pPr>
            <a:r>
              <a:rPr b="1" i="0" lang="en-US" sz="5000" u="none" cap="none" strike="noStrike">
                <a:solidFill>
                  <a:srgbClr val="48AEE0"/>
                </a:solidFill>
                <a:latin typeface="Calibri"/>
                <a:ea typeface="Calibri"/>
                <a:cs typeface="Calibri"/>
                <a:sym typeface="Calibri"/>
              </a:rPr>
              <a:t>9,568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5989320" y="1719072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hourly sensor readings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6263640" y="2084832"/>
            <a:ext cx="2286000" cy="22860"/>
          </a:xfrm>
          <a:prstGeom prst="rect">
            <a:avLst/>
          </a:prstGeom>
          <a:solidFill>
            <a:srgbClr val="1B7FA8"/>
          </a:solidFill>
          <a:ln cap="flat" cmpd="sng" w="12700">
            <a:solidFill>
              <a:srgbClr val="1B7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6080760" y="2258568"/>
            <a:ext cx="2651760" cy="347472"/>
          </a:xfrm>
          <a:prstGeom prst="rect">
            <a:avLst/>
          </a:prstGeom>
          <a:solidFill>
            <a:srgbClr val="132438"/>
          </a:solidFill>
          <a:ln cap="flat" cmpd="sng" w="12700">
            <a:solidFill>
              <a:srgbClr val="1324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6172200" y="228600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DA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8DA8"/>
                </a:solidFill>
                <a:latin typeface="Calibri"/>
                <a:ea typeface="Calibri"/>
                <a:cs typeface="Calibri"/>
                <a:sym typeface="Calibri"/>
              </a:rPr>
              <a:t>Temperature (AT)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8001000" y="2286000"/>
            <a:ext cx="685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°C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6080760" y="2679192"/>
            <a:ext cx="2651760" cy="347472"/>
          </a:xfrm>
          <a:prstGeom prst="rect">
            <a:avLst/>
          </a:prstGeom>
          <a:solidFill>
            <a:srgbClr val="132438"/>
          </a:solidFill>
          <a:ln cap="flat" cmpd="sng" w="12700">
            <a:solidFill>
              <a:srgbClr val="1324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6172200" y="2706624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DA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8DA8"/>
                </a:solidFill>
                <a:latin typeface="Calibri"/>
                <a:ea typeface="Calibri"/>
                <a:cs typeface="Calibri"/>
                <a:sym typeface="Calibri"/>
              </a:rPr>
              <a:t>Exhaust Vacuum (V)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8001000" y="2706624"/>
            <a:ext cx="685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cmHg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6080760" y="3099816"/>
            <a:ext cx="2651760" cy="347472"/>
          </a:xfrm>
          <a:prstGeom prst="rect">
            <a:avLst/>
          </a:prstGeom>
          <a:solidFill>
            <a:srgbClr val="132438"/>
          </a:solidFill>
          <a:ln cap="flat" cmpd="sng" w="12700">
            <a:solidFill>
              <a:srgbClr val="1324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"/>
          <p:cNvSpPr/>
          <p:nvPr/>
        </p:nvSpPr>
        <p:spPr>
          <a:xfrm>
            <a:off x="6172200" y="312724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DA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8DA8"/>
                </a:solidFill>
                <a:latin typeface="Calibri"/>
                <a:ea typeface="Calibri"/>
                <a:cs typeface="Calibri"/>
                <a:sym typeface="Calibri"/>
              </a:rPr>
              <a:t>Ambient Pressure (AP)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8001000" y="3127248"/>
            <a:ext cx="685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mbar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6080760" y="3520440"/>
            <a:ext cx="2651760" cy="347472"/>
          </a:xfrm>
          <a:prstGeom prst="rect">
            <a:avLst/>
          </a:prstGeom>
          <a:solidFill>
            <a:srgbClr val="132438"/>
          </a:solidFill>
          <a:ln cap="flat" cmpd="sng" w="12700">
            <a:solidFill>
              <a:srgbClr val="1324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"/>
          <p:cNvSpPr/>
          <p:nvPr/>
        </p:nvSpPr>
        <p:spPr>
          <a:xfrm>
            <a:off x="6172200" y="354787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DA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8DA8"/>
                </a:solidFill>
                <a:latin typeface="Calibri"/>
                <a:ea typeface="Calibri"/>
                <a:cs typeface="Calibri"/>
                <a:sym typeface="Calibri"/>
              </a:rPr>
              <a:t>Relative Humidity (RH)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8001000" y="3547872"/>
            <a:ext cx="685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6080760" y="3941064"/>
            <a:ext cx="2651760" cy="347472"/>
          </a:xfrm>
          <a:prstGeom prst="rect">
            <a:avLst/>
          </a:prstGeom>
          <a:solidFill>
            <a:srgbClr val="1A3A52"/>
          </a:solidFill>
          <a:ln cap="flat" cmpd="sng" w="12700">
            <a:solidFill>
              <a:srgbClr val="1B7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"/>
          <p:cNvSpPr/>
          <p:nvPr/>
        </p:nvSpPr>
        <p:spPr>
          <a:xfrm>
            <a:off x="6172200" y="3968496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  <a:t>Energy Output (PE)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8001000" y="3968496"/>
            <a:ext cx="685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MW ★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3D62"/>
          </a:solidFill>
          <a:ln cap="flat" cmpd="sng" w="12700">
            <a:solidFill>
              <a:srgbClr val="0A3D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1B7FA8"/>
          </a:solidFill>
          <a:ln cap="flat" cmpd="sng" w="12700">
            <a:solidFill>
              <a:srgbClr val="1B7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411480" y="13716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Executive Summary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274320" y="1115568"/>
            <a:ext cx="4114800" cy="1719072"/>
          </a:xfrm>
          <a:prstGeom prst="rect">
            <a:avLst/>
          </a:prstGeom>
          <a:solidFill>
            <a:srgbClr val="132438"/>
          </a:solidFill>
          <a:ln cap="flat" cmpd="sng" w="15225">
            <a:solidFill>
              <a:srgbClr val="1B7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274320" y="1115568"/>
            <a:ext cx="82296" cy="1719072"/>
          </a:xfrm>
          <a:prstGeom prst="rect">
            <a:avLst/>
          </a:prstGeom>
          <a:solidFill>
            <a:srgbClr val="1B7FA8"/>
          </a:solidFill>
          <a:ln cap="flat" cmpd="sng" w="12700">
            <a:solidFill>
              <a:srgbClr val="1B7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912" y="126187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2"/>
          <p:cNvSpPr/>
          <p:nvPr/>
        </p:nvSpPr>
        <p:spPr>
          <a:xfrm>
            <a:off x="914400" y="1225296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AEE0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48AEE0"/>
                </a:solidFill>
                <a:latin typeface="Calibri"/>
                <a:ea typeface="Calibri"/>
                <a:cs typeface="Calibri"/>
                <a:sym typeface="Calibri"/>
              </a:rPr>
              <a:t>① Modeling Approach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914400" y="1609344"/>
            <a:ext cx="338328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  <a:t>Supervised Regression task using all 4 ambient features (AT, V, AP, RH) + engineered interaction &amp; polynomial terms. Two algorithms compared: Linear Regression vs. Random Forest.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4709160" y="1115568"/>
            <a:ext cx="4114800" cy="1719072"/>
          </a:xfrm>
          <a:prstGeom prst="rect">
            <a:avLst/>
          </a:prstGeom>
          <a:solidFill>
            <a:srgbClr val="132438"/>
          </a:solidFill>
          <a:ln cap="flat" cmpd="sng" w="15225">
            <a:solidFill>
              <a:srgbClr val="1B7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4709160" y="1115568"/>
            <a:ext cx="82296" cy="1719072"/>
          </a:xfrm>
          <a:prstGeom prst="rect">
            <a:avLst/>
          </a:prstGeom>
          <a:solidFill>
            <a:srgbClr val="1B7FA8"/>
          </a:solidFill>
          <a:ln cap="flat" cmpd="sng" w="12700">
            <a:solidFill>
              <a:srgbClr val="1B7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" name="Google Shape;5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3752" y="126187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"/>
          <p:cNvSpPr/>
          <p:nvPr/>
        </p:nvSpPr>
        <p:spPr>
          <a:xfrm>
            <a:off x="5349240" y="1225296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AEE0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48AEE0"/>
                </a:solidFill>
                <a:latin typeface="Calibri"/>
                <a:ea typeface="Calibri"/>
                <a:cs typeface="Calibri"/>
                <a:sym typeface="Calibri"/>
              </a:rPr>
              <a:t>② Model Building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5349240" y="1609344"/>
            <a:ext cx="338328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  <a:t>80/20 train-test split. 5-Fold Cross-Validation on training data only. StandardScaler applied for feature scaling. Random Forest selected as winner based on CV scores.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274320" y="2990088"/>
            <a:ext cx="4114800" cy="1719072"/>
          </a:xfrm>
          <a:prstGeom prst="rect">
            <a:avLst/>
          </a:prstGeom>
          <a:solidFill>
            <a:srgbClr val="132438"/>
          </a:solidFill>
          <a:ln cap="flat" cmpd="sng" w="15225">
            <a:solidFill>
              <a:srgbClr val="1B7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274320" y="2990088"/>
            <a:ext cx="82296" cy="1719072"/>
          </a:xfrm>
          <a:prstGeom prst="rect">
            <a:avLst/>
          </a:prstGeom>
          <a:solidFill>
            <a:srgbClr val="1B7FA8"/>
          </a:solidFill>
          <a:ln cap="flat" cmpd="sng" w="12700">
            <a:solidFill>
              <a:srgbClr val="1B7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" name="Google Shape;64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912" y="313639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"/>
          <p:cNvSpPr/>
          <p:nvPr/>
        </p:nvSpPr>
        <p:spPr>
          <a:xfrm>
            <a:off x="914400" y="3099816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AEE0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48AEE0"/>
                </a:solidFill>
                <a:latin typeface="Calibri"/>
                <a:ea typeface="Calibri"/>
                <a:cs typeface="Calibri"/>
                <a:sym typeface="Calibri"/>
              </a:rPr>
              <a:t>③ Model Evaluation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914400" y="3483864"/>
            <a:ext cx="338328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  <a:t>Two metrics: RMSE (error in MW) and R² (variance explained). Final evaluation run strictly on the 20% hold-out test set, never seen during training.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4709160" y="2990088"/>
            <a:ext cx="4114800" cy="1719072"/>
          </a:xfrm>
          <a:prstGeom prst="rect">
            <a:avLst/>
          </a:prstGeom>
          <a:solidFill>
            <a:srgbClr val="132438"/>
          </a:solidFill>
          <a:ln cap="flat" cmpd="sng" w="254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4709160" y="2990088"/>
            <a:ext cx="82296" cy="1719072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" name="Google Shape;69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73752" y="313639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2"/>
          <p:cNvSpPr/>
          <p:nvPr/>
        </p:nvSpPr>
        <p:spPr>
          <a:xfrm>
            <a:off x="5349240" y="3099816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④ Model Interpretation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5349240" y="3483864"/>
            <a:ext cx="338328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  <a:t>Random Forest: RMSE 3.40 MW, R² ≈ 0.96. Outperforms Linear Regression (RMSE 4.31 MW) by 21% due to capturing non-linear feature interactions. ✔ Recommended.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2F7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3D62"/>
          </a:solidFill>
          <a:ln cap="flat" cmpd="sng" w="12700">
            <a:solidFill>
              <a:srgbClr val="0A3D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1B7FA8"/>
          </a:solidFill>
          <a:ln cap="flat" cmpd="sng" w="12700">
            <a:solidFill>
              <a:srgbClr val="1B7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411480" y="13716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① Modeling Approach: Task, Features &amp; Algorithms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274320" y="1078992"/>
            <a:ext cx="2743200" cy="3767328"/>
          </a:xfrm>
          <a:prstGeom prst="rect">
            <a:avLst/>
          </a:prstGeom>
          <a:solidFill>
            <a:srgbClr val="0A3D62"/>
          </a:solidFill>
          <a:ln cap="flat" cmpd="sng" w="19050">
            <a:solidFill>
              <a:srgbClr val="1B7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274320" y="117043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7FA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7FA8"/>
                </a:solidFill>
                <a:latin typeface="Calibri"/>
                <a:ea typeface="Calibri"/>
                <a:cs typeface="Calibri"/>
                <a:sym typeface="Calibri"/>
              </a:rPr>
              <a:t>TASK TYPE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274320" y="1536192"/>
            <a:ext cx="27432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Supervised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Regression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548640" y="2487168"/>
            <a:ext cx="2194560" cy="27432"/>
          </a:xfrm>
          <a:prstGeom prst="rect">
            <a:avLst/>
          </a:prstGeom>
          <a:solidFill>
            <a:srgbClr val="1B7FA8"/>
          </a:solidFill>
          <a:ln cap="flat" cmpd="sng" w="12700">
            <a:solidFill>
              <a:srgbClr val="1B7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384048" y="2606040"/>
            <a:ext cx="2514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AEE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48AEE0"/>
                </a:solidFill>
                <a:latin typeface="Calibri"/>
                <a:ea typeface="Calibri"/>
                <a:cs typeface="Calibri"/>
                <a:sym typeface="Calibri"/>
              </a:rPr>
              <a:t>Supervised:  </a:t>
            </a:r>
            <a:r>
              <a:rPr b="0" i="0" lang="en-US" sz="1050" u="none" cap="none" strike="noStrike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  <a:t>Historical data with known PE output labels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384048" y="3264408"/>
            <a:ext cx="2514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AEE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48AEE0"/>
                </a:solidFill>
                <a:latin typeface="Calibri"/>
                <a:ea typeface="Calibri"/>
                <a:cs typeface="Calibri"/>
                <a:sym typeface="Calibri"/>
              </a:rPr>
              <a:t>Regression:  </a:t>
            </a:r>
            <a:r>
              <a:rPr b="0" i="0" lang="en-US" sz="1050" u="none" cap="none" strike="noStrike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  <a:t>Target (PE) is continuous, not categorical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384048" y="3922776"/>
            <a:ext cx="2514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AEE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48AEE0"/>
                </a:solidFill>
                <a:latin typeface="Calibri"/>
                <a:ea typeface="Calibri"/>
                <a:cs typeface="Calibri"/>
                <a:sym typeface="Calibri"/>
              </a:rPr>
              <a:t>Goal:  </a:t>
            </a:r>
            <a:r>
              <a:rPr b="0" i="0" lang="en-US" sz="1050" u="none" cap="none" strike="noStrike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  <a:t>Minimize prediction error in Megawatts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3246120" y="1078992"/>
            <a:ext cx="2651760" cy="3767328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3246120" y="1078992"/>
            <a:ext cx="82296" cy="3767328"/>
          </a:xfrm>
          <a:prstGeom prst="rect">
            <a:avLst/>
          </a:prstGeom>
          <a:solidFill>
            <a:srgbClr val="1B7FA8"/>
          </a:solidFill>
          <a:ln cap="flat" cmpd="sng" w="12700">
            <a:solidFill>
              <a:srgbClr val="1B7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3383280" y="1152144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A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7FA8"/>
                </a:solidFill>
                <a:latin typeface="Calibri"/>
                <a:ea typeface="Calibri"/>
                <a:cs typeface="Calibri"/>
                <a:sym typeface="Calibri"/>
              </a:rPr>
              <a:t>FEATURES USED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3383280" y="1572768"/>
            <a:ext cx="237744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3429000" y="1609344"/>
            <a:ext cx="4754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7FA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7FA8"/>
                </a:solidFill>
                <a:latin typeface="Calibri"/>
                <a:ea typeface="Calibri"/>
                <a:cs typeface="Calibri"/>
                <a:sym typeface="Calibri"/>
              </a:rPr>
              <a:t>AT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3950208" y="1609344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Temperature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3950208" y="1810512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1.81–37.11 °C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3383280" y="2139696"/>
            <a:ext cx="237744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3429000" y="2176272"/>
            <a:ext cx="4754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7FA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7FA8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3950208" y="2176272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Exhaust Vacuum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3950208" y="2377440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25.36–81.56 cmHg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3383280" y="2706624"/>
            <a:ext cx="237744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3429000" y="2743200"/>
            <a:ext cx="4754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7FA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7FA8"/>
                </a:solidFill>
                <a:latin typeface="Calibri"/>
                <a:ea typeface="Calibri"/>
                <a:cs typeface="Calibri"/>
                <a:sym typeface="Calibri"/>
              </a:rPr>
              <a:t>AP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3950208" y="2743200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Ambient Pressure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3950208" y="2944368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992.89–1033.30 mbar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3383280" y="3273552"/>
            <a:ext cx="237744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3429000" y="3310128"/>
            <a:ext cx="4754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7FA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7FA8"/>
                </a:solidFill>
                <a:latin typeface="Calibri"/>
                <a:ea typeface="Calibri"/>
                <a:cs typeface="Calibri"/>
                <a:sym typeface="Calibri"/>
              </a:rPr>
              <a:t>RH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3950208" y="3310128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Rel. Humidity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3950208" y="3511296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25.56–100.16 %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3383280" y="3858768"/>
            <a:ext cx="2377440" cy="640080"/>
          </a:xfrm>
          <a:prstGeom prst="rect">
            <a:avLst/>
          </a:prstGeom>
          <a:solidFill>
            <a:srgbClr val="EBF8FF"/>
          </a:solidFill>
          <a:ln cap="flat" cmpd="sng" w="19050">
            <a:solidFill>
              <a:srgbClr val="1B7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3456432" y="3904488"/>
            <a:ext cx="226771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A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7FA8"/>
                </a:solidFill>
                <a:latin typeface="Calibri"/>
                <a:ea typeface="Calibri"/>
                <a:cs typeface="Calibri"/>
                <a:sym typeface="Calibri"/>
              </a:rPr>
              <a:t>+ Feature Engineering</a:t>
            </a:r>
            <a:br>
              <a:rPr b="1" i="0" lang="en-US" sz="950" u="none" cap="none" strike="noStrike">
                <a:solidFill>
                  <a:srgbClr val="1B7FA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Interaction terms (AT×RH) &amp; polynomial features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6126480" y="1078992"/>
            <a:ext cx="2743200" cy="3767328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6126480" y="1078992"/>
            <a:ext cx="82296" cy="3767328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6263640" y="1152144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ALGORITHMS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6263640" y="1572768"/>
            <a:ext cx="251460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6355080" y="1645920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Model 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6355080" y="1901952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Linear Regression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6355080" y="2176272"/>
            <a:ext cx="2331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Parametric · Baseline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6355080" y="2395728"/>
            <a:ext cx="2331720" cy="22860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6355080" y="2450592"/>
            <a:ext cx="2331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Assumes linear relationship. Fast, interpretable, good baseline for comparison.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6263640" y="3145536"/>
            <a:ext cx="2514600" cy="1371600"/>
          </a:xfrm>
          <a:prstGeom prst="rect">
            <a:avLst/>
          </a:prstGeom>
          <a:solidFill>
            <a:srgbClr val="EBF8FF"/>
          </a:solidFill>
          <a:ln cap="flat" cmpd="sng" w="19050">
            <a:solidFill>
              <a:srgbClr val="1B7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6355080" y="3218688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A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7FA8"/>
                </a:solidFill>
                <a:latin typeface="Calibri"/>
                <a:ea typeface="Calibri"/>
                <a:cs typeface="Calibri"/>
                <a:sym typeface="Calibri"/>
              </a:rPr>
              <a:t>Model B ★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6355080" y="347472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6355080" y="3749040"/>
            <a:ext cx="2331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Ensemble · Non-parametric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6355080" y="3968496"/>
            <a:ext cx="2331720" cy="22860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6355080" y="4023360"/>
            <a:ext cx="2331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100s of decision trees trained on random subsets. Captures non-linear patterns and feature interactions.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3D62"/>
          </a:solidFill>
          <a:ln cap="flat" cmpd="sng" w="12700">
            <a:solidFill>
              <a:srgbClr val="0A3D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1B7FA8"/>
          </a:solidFill>
          <a:ln cap="flat" cmpd="sng" w="12700">
            <a:solidFill>
              <a:srgbClr val="1B7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411480" y="13716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② Model Building: Split → Scale → Validate → Select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274320" y="1078992"/>
            <a:ext cx="2761488" cy="3474720"/>
          </a:xfrm>
          <a:prstGeom prst="rect">
            <a:avLst/>
          </a:prstGeom>
          <a:solidFill>
            <a:srgbClr val="132438"/>
          </a:solidFill>
          <a:ln cap="flat" cmpd="sng" w="19050">
            <a:solidFill>
              <a:srgbClr val="1B7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274320" y="1078992"/>
            <a:ext cx="2761488" cy="54864"/>
          </a:xfrm>
          <a:prstGeom prst="rect">
            <a:avLst/>
          </a:prstGeom>
          <a:solidFill>
            <a:srgbClr val="1B7FA8"/>
          </a:solidFill>
          <a:ln cap="flat" cmpd="sng" w="12700">
            <a:solidFill>
              <a:srgbClr val="1B7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384048" y="1152144"/>
            <a:ext cx="594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A8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B7FA8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384048" y="1682496"/>
            <a:ext cx="25420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A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7FA8"/>
                </a:solidFill>
                <a:latin typeface="Calibri"/>
                <a:ea typeface="Calibri"/>
                <a:cs typeface="Calibri"/>
                <a:sym typeface="Calibri"/>
              </a:rPr>
              <a:t>Data Split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384048" y="2084832"/>
            <a:ext cx="2542032" cy="22860"/>
          </a:xfrm>
          <a:prstGeom prst="rect">
            <a:avLst/>
          </a:prstGeom>
          <a:solidFill>
            <a:srgbClr val="1B7FA8"/>
          </a:solidFill>
          <a:ln cap="flat" cmpd="sng" w="12700">
            <a:solidFill>
              <a:srgbClr val="1B7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384048" y="2176272"/>
            <a:ext cx="254203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A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7FA8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50" u="none" cap="none" strike="noStrike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  <a:t>9,568 records total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384048" y="2688336"/>
            <a:ext cx="254203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A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7FA8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50" u="none" cap="none" strike="noStrike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  <a:t>80% → Training Set (7,654 rows)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384048" y="3200400"/>
            <a:ext cx="254203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A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7FA8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50" u="none" cap="none" strike="noStrike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  <a:t>20% → Test Set (1,914 rows) — HELD OUT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384048" y="3712464"/>
            <a:ext cx="254203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A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7FA8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50" u="none" cap="none" strike="noStrike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  <a:t>Test set never touched until final eval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3218688" y="1078992"/>
            <a:ext cx="2761488" cy="3474720"/>
          </a:xfrm>
          <a:prstGeom prst="rect">
            <a:avLst/>
          </a:prstGeom>
          <a:solidFill>
            <a:srgbClr val="132438"/>
          </a:solidFill>
          <a:ln cap="flat" cmpd="sng" w="19050">
            <a:solidFill>
              <a:srgbClr val="48AE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3218688" y="1078992"/>
            <a:ext cx="2761488" cy="54864"/>
          </a:xfrm>
          <a:prstGeom prst="rect">
            <a:avLst/>
          </a:prstGeom>
          <a:solidFill>
            <a:srgbClr val="48AEE0"/>
          </a:solidFill>
          <a:ln cap="flat" cmpd="sng" w="12700">
            <a:solidFill>
              <a:srgbClr val="48AE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3328416" y="1152144"/>
            <a:ext cx="594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AEE0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48AEE0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3328416" y="1682496"/>
            <a:ext cx="25420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AEE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8AEE0"/>
                </a:solidFill>
                <a:latin typeface="Calibri"/>
                <a:ea typeface="Calibri"/>
                <a:cs typeface="Calibri"/>
                <a:sym typeface="Calibri"/>
              </a:rPr>
              <a:t>Feature Scaling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3328416" y="2084832"/>
            <a:ext cx="2542032" cy="22860"/>
          </a:xfrm>
          <a:prstGeom prst="rect">
            <a:avLst/>
          </a:prstGeom>
          <a:solidFill>
            <a:srgbClr val="48AEE0"/>
          </a:solidFill>
          <a:ln cap="flat" cmpd="sng" w="12700">
            <a:solidFill>
              <a:srgbClr val="48AE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3328416" y="2176272"/>
            <a:ext cx="254203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AEE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48AEE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50" u="none" cap="none" strike="noStrike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  <a:t>StandardScaler (Z-score normalization)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3328416" y="2688336"/>
            <a:ext cx="254203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AEE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48AEE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50" u="none" cap="none" strike="noStrike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  <a:t>Prevents bias from scale differences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3328416" y="3200400"/>
            <a:ext cx="254203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AEE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48AEE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50" u="none" cap="none" strike="noStrike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  <a:t>e.g. Temp (°C) vs Pressure (mbar)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3328416" y="3712464"/>
            <a:ext cx="254203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AEE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48AEE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50" u="none" cap="none" strike="noStrike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  <a:t>Fit on train only — applied to both sets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6163056" y="1078992"/>
            <a:ext cx="2761488" cy="3474720"/>
          </a:xfrm>
          <a:prstGeom prst="rect">
            <a:avLst/>
          </a:prstGeom>
          <a:solidFill>
            <a:srgbClr val="132438"/>
          </a:solidFill>
          <a:ln cap="flat" cmpd="sng" w="1905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"/>
          <p:cNvSpPr/>
          <p:nvPr/>
        </p:nvSpPr>
        <p:spPr>
          <a:xfrm>
            <a:off x="6163056" y="1078992"/>
            <a:ext cx="2761488" cy="54864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"/>
          <p:cNvSpPr/>
          <p:nvPr/>
        </p:nvSpPr>
        <p:spPr>
          <a:xfrm>
            <a:off x="6272784" y="1152144"/>
            <a:ext cx="594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6272784" y="1682496"/>
            <a:ext cx="25420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5-Fold Cross-Validation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6272784" y="2084832"/>
            <a:ext cx="2542032" cy="22860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6272784" y="2176272"/>
            <a:ext cx="254203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50" u="none" cap="none" strike="noStrike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  <a:t>Training set divided into 5 folds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6272784" y="2688336"/>
            <a:ext cx="254203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50" u="none" cap="none" strike="noStrike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  <a:t>Model trained 5× on different subsets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6272784" y="3200400"/>
            <a:ext cx="254203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50" u="none" cap="none" strike="noStrike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  <a:t>Avg. CV RMSE compared across models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6272784" y="3712464"/>
            <a:ext cx="254203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50" u="none" cap="none" strike="noStrike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  <a:t>No test data leakage — robust estimate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274320" y="4690872"/>
            <a:ext cx="8595360" cy="38404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"/>
          <p:cNvSpPr/>
          <p:nvPr/>
        </p:nvSpPr>
        <p:spPr>
          <a:xfrm>
            <a:off x="274320" y="4718304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✔  Selection Outcome: Random Forest had the best average CV RMSE → Chosen as Final Model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2F7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3D62"/>
          </a:solidFill>
          <a:ln cap="flat" cmpd="sng" w="12700">
            <a:solidFill>
              <a:srgbClr val="0A3D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1B7FA8"/>
          </a:solidFill>
          <a:ln cap="flat" cmpd="sng" w="12700">
            <a:solidFill>
              <a:srgbClr val="1B7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411480" y="13716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③ Model Evaluation Metrics: RMSE &amp; R²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274320" y="1078992"/>
            <a:ext cx="4160520" cy="3767328"/>
          </a:xfrm>
          <a:prstGeom prst="rect">
            <a:avLst/>
          </a:prstGeom>
          <a:solidFill>
            <a:srgbClr val="0A3D62"/>
          </a:solidFill>
          <a:ln cap="flat" cmpd="sng" w="19050">
            <a:solidFill>
              <a:srgbClr val="1B7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274320" y="1207008"/>
            <a:ext cx="4160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AEE0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48AEE0"/>
                </a:solidFill>
                <a:latin typeface="Calibri"/>
                <a:ea typeface="Calibri"/>
                <a:cs typeface="Calibri"/>
                <a:sym typeface="Calibri"/>
              </a:rPr>
              <a:t>RMSE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274320" y="1874520"/>
            <a:ext cx="4160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Root Mean Squared Error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594360" y="2231136"/>
            <a:ext cx="3520440" cy="27432"/>
          </a:xfrm>
          <a:prstGeom prst="rect">
            <a:avLst/>
          </a:prstGeom>
          <a:solidFill>
            <a:srgbClr val="1B7FA8"/>
          </a:solidFill>
          <a:ln cap="flat" cmpd="sng" w="12700">
            <a:solidFill>
              <a:srgbClr val="1B7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274320" y="2340864"/>
            <a:ext cx="4160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√ Σ(Predicted − Actual)² / 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438912" y="2880360"/>
            <a:ext cx="3840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A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7FA8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50" u="none" cap="none" strike="noStrike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  <a:t>Error expressed in MW — same unit as target PE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438912" y="3355848"/>
            <a:ext cx="3840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A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7FA8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50" u="none" cap="none" strike="noStrike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  <a:t>Penalizes large errors more than small ones (due to squaring)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438912" y="3831336"/>
            <a:ext cx="3840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A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7FA8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50" u="none" cap="none" strike="noStrike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  <a:t>Easy to explain to non-technical stakeholders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438912" y="4306824"/>
            <a:ext cx="3840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A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7FA8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1" i="0" lang="en-US" sz="105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↓ Lower is always better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4709160" y="1078992"/>
            <a:ext cx="4160520" cy="3767328"/>
          </a:xfrm>
          <a:prstGeom prst="rect">
            <a:avLst/>
          </a:prstGeom>
          <a:solidFill>
            <a:srgbClr val="F4F8FC"/>
          </a:solidFill>
          <a:ln cap="flat" cmpd="sng" w="190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4709160" y="1078992"/>
            <a:ext cx="4160520" cy="54864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4709160" y="1207008"/>
            <a:ext cx="4160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R²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4709160" y="1874520"/>
            <a:ext cx="4160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R-Squared  (Coefficient of Determination)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5029200" y="2231136"/>
            <a:ext cx="3520440" cy="27432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4709160" y="2340864"/>
            <a:ext cx="4160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1 − (SS_res / SS_tot)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4864608" y="2880360"/>
            <a:ext cx="3840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Shows % of variance in PE explained by model features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4864608" y="3355848"/>
            <a:ext cx="3840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Scale-free: always ranges from 0.0 → 1.0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4864608" y="3831336"/>
            <a:ext cx="3840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Complements RMSE — different diagnostic angle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4864608" y="4306824"/>
            <a:ext cx="3840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▸  ↑ Higher is always better (1.0 = perfect fit)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274320" y="4690872"/>
            <a:ext cx="8595360" cy="384048"/>
          </a:xfrm>
          <a:prstGeom prst="rect">
            <a:avLst/>
          </a:prstGeom>
          <a:solidFill>
            <a:srgbClr val="0A3D62"/>
          </a:solidFill>
          <a:ln cap="flat" cmpd="sng" w="12700">
            <a:solidFill>
              <a:srgbClr val="1B7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5"/>
          <p:cNvSpPr/>
          <p:nvPr/>
        </p:nvSpPr>
        <p:spPr>
          <a:xfrm>
            <a:off x="274320" y="4718304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AEE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8AEE0"/>
                </a:solidFill>
                <a:latin typeface="Calibri"/>
                <a:ea typeface="Calibri"/>
                <a:cs typeface="Calibri"/>
                <a:sym typeface="Calibri"/>
              </a:rPr>
              <a:t>⚠  Final RMSE &amp; R² calculated strictly on the 20% hold-out Test Set — data never seen during training or validation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3D62"/>
          </a:solidFill>
          <a:ln cap="flat" cmpd="sng" w="12700">
            <a:solidFill>
              <a:srgbClr val="0A3D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1B7FA8"/>
          </a:solidFill>
          <a:ln cap="flat" cmpd="sng" w="12700">
            <a:solidFill>
              <a:srgbClr val="1B7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411480" y="13716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④ Test Set Results: Model Performance Comparison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274320" y="1078992"/>
            <a:ext cx="3840480" cy="3310128"/>
          </a:xfrm>
          <a:prstGeom prst="rect">
            <a:avLst/>
          </a:prstGeom>
          <a:solidFill>
            <a:srgbClr val="132438"/>
          </a:solidFill>
          <a:ln cap="flat" cmpd="sng" w="152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274320" y="1152144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Linear Regression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502920" y="1591056"/>
            <a:ext cx="3383280" cy="27432"/>
          </a:xfrm>
          <a:prstGeom prst="rect">
            <a:avLst/>
          </a:prstGeom>
          <a:solidFill>
            <a:srgbClr val="475569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274320" y="1664208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0"/>
              <a:buFont typeface="Calibri"/>
              <a:buNone/>
            </a:pPr>
            <a:r>
              <a:rPr b="1" i="0" lang="en-US" sz="7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4.31</a:t>
            </a:r>
            <a:endParaRPr b="0" i="0" sz="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274320" y="2633472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MW  RMSE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502920" y="3017520"/>
            <a:ext cx="3383280" cy="27432"/>
          </a:xfrm>
          <a:prstGeom prst="rect">
            <a:avLst/>
          </a:prstGeom>
          <a:solidFill>
            <a:srgbClr val="475569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"/>
          <p:cNvSpPr/>
          <p:nvPr/>
        </p:nvSpPr>
        <p:spPr>
          <a:xfrm>
            <a:off x="502920" y="3090672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R²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502920" y="3090672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≈ 0.92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457200" y="3547872"/>
            <a:ext cx="3474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Predictions off by 4.31 MW on average.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92% of variance explained.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5029200" y="1078992"/>
            <a:ext cx="3840480" cy="3310128"/>
          </a:xfrm>
          <a:prstGeom prst="rect">
            <a:avLst/>
          </a:prstGeom>
          <a:solidFill>
            <a:srgbClr val="132438"/>
          </a:solidFill>
          <a:ln cap="flat" cmpd="sng" w="31750">
            <a:solidFill>
              <a:srgbClr val="1B7FA8"/>
            </a:solidFill>
            <a:prstDash val="solid"/>
            <a:round/>
            <a:headEnd len="sm" w="sm" type="none"/>
            <a:tailEnd len="sm" w="sm" type="none"/>
          </a:ln>
          <a:effectLst>
            <a:outerShdw blurRad="203200" rotWithShape="0" algn="bl" dir="8100000" dist="635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5029200" y="1078992"/>
            <a:ext cx="3840480" cy="54864"/>
          </a:xfrm>
          <a:prstGeom prst="rect">
            <a:avLst/>
          </a:prstGeom>
          <a:solidFill>
            <a:srgbClr val="1B7FA8"/>
          </a:solidFill>
          <a:ln cap="flat" cmpd="sng" w="12700">
            <a:solidFill>
              <a:srgbClr val="1B7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"/>
          <p:cNvSpPr/>
          <p:nvPr/>
        </p:nvSpPr>
        <p:spPr>
          <a:xfrm>
            <a:off x="5029200" y="1152144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AEE0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48AEE0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5257800" y="1591056"/>
            <a:ext cx="3383280" cy="27432"/>
          </a:xfrm>
          <a:prstGeom prst="rect">
            <a:avLst/>
          </a:prstGeom>
          <a:solidFill>
            <a:srgbClr val="1B7FA8"/>
          </a:solidFill>
          <a:ln cap="flat" cmpd="sng" w="12700">
            <a:solidFill>
              <a:srgbClr val="1B7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5029200" y="1664208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AEE0"/>
              </a:buClr>
              <a:buSzPts val="7000"/>
              <a:buFont typeface="Calibri"/>
              <a:buNone/>
            </a:pPr>
            <a:r>
              <a:rPr b="1" i="0" lang="en-US" sz="7000" u="none" cap="none" strike="noStrike">
                <a:solidFill>
                  <a:srgbClr val="48AEE0"/>
                </a:solidFill>
                <a:latin typeface="Calibri"/>
                <a:ea typeface="Calibri"/>
                <a:cs typeface="Calibri"/>
                <a:sym typeface="Calibri"/>
              </a:rPr>
              <a:t>3.40</a:t>
            </a:r>
            <a:endParaRPr b="0" i="0" sz="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5029200" y="2633472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AEE0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48AEE0"/>
                </a:solidFill>
                <a:latin typeface="Calibri"/>
                <a:ea typeface="Calibri"/>
                <a:cs typeface="Calibri"/>
                <a:sym typeface="Calibri"/>
              </a:rPr>
              <a:t>MW  RMSE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5257800" y="3017520"/>
            <a:ext cx="3383280" cy="27432"/>
          </a:xfrm>
          <a:prstGeom prst="rect">
            <a:avLst/>
          </a:prstGeom>
          <a:solidFill>
            <a:srgbClr val="1B7FA8"/>
          </a:solidFill>
          <a:ln cap="flat" cmpd="sng" w="12700">
            <a:solidFill>
              <a:srgbClr val="1B7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6"/>
          <p:cNvSpPr/>
          <p:nvPr/>
        </p:nvSpPr>
        <p:spPr>
          <a:xfrm>
            <a:off x="5257800" y="3090672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AEE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8AEE0"/>
                </a:solidFill>
                <a:latin typeface="Calibri"/>
                <a:ea typeface="Calibri"/>
                <a:cs typeface="Calibri"/>
                <a:sym typeface="Calibri"/>
              </a:rPr>
              <a:t>R²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5257800" y="3090672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8AEE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48AEE0"/>
                </a:solidFill>
                <a:latin typeface="Calibri"/>
                <a:ea typeface="Calibri"/>
                <a:cs typeface="Calibri"/>
                <a:sym typeface="Calibri"/>
              </a:rPr>
              <a:t>≈ 0.96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5212080" y="3547872"/>
            <a:ext cx="3474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  <a:t>Predictions off by only 3.40 MW on average.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  <a:t>96% of variance explained.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3959352" y="2011680"/>
            <a:ext cx="1234440" cy="1234440"/>
          </a:xfrm>
          <a:prstGeom prst="ellipse">
            <a:avLst/>
          </a:prstGeom>
          <a:solidFill>
            <a:srgbClr val="0D1B2A"/>
          </a:solidFill>
          <a:ln cap="flat" cmpd="sng" w="3175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6"/>
          <p:cNvSpPr/>
          <p:nvPr/>
        </p:nvSpPr>
        <p:spPr>
          <a:xfrm>
            <a:off x="3959352" y="2103120"/>
            <a:ext cx="12344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21%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LESS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ERROR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0" y="4498848"/>
            <a:ext cx="9144000" cy="420624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6"/>
          <p:cNvSpPr/>
          <p:nvPr/>
        </p:nvSpPr>
        <p:spPr>
          <a:xfrm>
            <a:off x="0" y="45262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🏆  Winner: Random Forest  —  RMSE 3.40 MW  |  R² ≈ 0.96  |  21% Error Reduction vs. Baseline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2F7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3D62"/>
          </a:solidFill>
          <a:ln cap="flat" cmpd="sng" w="12700">
            <a:solidFill>
              <a:srgbClr val="0A3D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1B7FA8"/>
          </a:solidFill>
          <a:ln cap="flat" cmpd="sng" w="12700">
            <a:solidFill>
              <a:srgbClr val="1B7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411480" y="13716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④ Model Interpretation: Why Random Forest Won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274320" y="1078992"/>
            <a:ext cx="4160520" cy="3767328"/>
          </a:xfrm>
          <a:prstGeom prst="rect">
            <a:avLst/>
          </a:prstGeom>
          <a:solidFill>
            <a:srgbClr val="F1F5F9"/>
          </a:solidFill>
          <a:ln cap="flat" cmpd="sng" w="1905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274320" y="1078992"/>
            <a:ext cx="4160520" cy="64008"/>
          </a:xfrm>
          <a:prstGeom prst="rect">
            <a:avLst/>
          </a:prstGeom>
          <a:solidFill>
            <a:srgbClr val="475569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411480" y="1170432"/>
            <a:ext cx="3886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Linear Regression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411480" y="1517904"/>
            <a:ext cx="3886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Parametric Baseline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411480" y="1828800"/>
            <a:ext cx="3886200" cy="22860"/>
          </a:xfrm>
          <a:prstGeom prst="rect">
            <a:avLst/>
          </a:prstGeom>
          <a:solidFill>
            <a:srgbClr val="475569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"/>
          <p:cNvSpPr/>
          <p:nvPr/>
        </p:nvSpPr>
        <p:spPr>
          <a:xfrm>
            <a:off x="502920" y="1920240"/>
            <a:ext cx="3794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Linearity Assumption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502920" y="2194560"/>
            <a:ext cx="3794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Assumes a single linear hyperplane through 4D feature space. Breaks when relationships are curved or multiplicative.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502920" y="2880360"/>
            <a:ext cx="3794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No Interaction Capture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502920" y="3154680"/>
            <a:ext cx="3794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Cannot detect that the effect of Temperature on PE changes depending on Humidity — each feature treated independently.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502920" y="3840480"/>
            <a:ext cx="3794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Feature Engineering Required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502920" y="4114800"/>
            <a:ext cx="3794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Polynomial &amp; interaction terms were added manually to partially compensate, but still an approximation.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4754880" y="1078992"/>
            <a:ext cx="4160520" cy="3767328"/>
          </a:xfrm>
          <a:prstGeom prst="rect">
            <a:avLst/>
          </a:prstGeom>
          <a:solidFill>
            <a:srgbClr val="EBF8FF"/>
          </a:solidFill>
          <a:ln cap="flat" cmpd="sng" w="19050">
            <a:solidFill>
              <a:srgbClr val="1B7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4754880" y="1078992"/>
            <a:ext cx="4160520" cy="64008"/>
          </a:xfrm>
          <a:prstGeom prst="rect">
            <a:avLst/>
          </a:prstGeom>
          <a:solidFill>
            <a:srgbClr val="1B7FA8"/>
          </a:solidFill>
          <a:ln cap="flat" cmpd="sng" w="12700">
            <a:solidFill>
              <a:srgbClr val="1B7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"/>
          <p:cNvSpPr/>
          <p:nvPr/>
        </p:nvSpPr>
        <p:spPr>
          <a:xfrm>
            <a:off x="4892040" y="1170432"/>
            <a:ext cx="3886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A8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B7FA8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4892040" y="1517904"/>
            <a:ext cx="3886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Ensemble Winner  ★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4892040" y="1828800"/>
            <a:ext cx="3886200" cy="22860"/>
          </a:xfrm>
          <a:prstGeom prst="rect">
            <a:avLst/>
          </a:prstGeom>
          <a:solidFill>
            <a:srgbClr val="1B7FA8"/>
          </a:solidFill>
          <a:ln cap="flat" cmpd="sng" w="12700">
            <a:solidFill>
              <a:srgbClr val="1B7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7"/>
          <p:cNvSpPr/>
          <p:nvPr/>
        </p:nvSpPr>
        <p:spPr>
          <a:xfrm>
            <a:off x="4983480" y="1920240"/>
            <a:ext cx="3794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7FA8"/>
                </a:solidFill>
                <a:latin typeface="Calibri"/>
                <a:ea typeface="Calibri"/>
                <a:cs typeface="Calibri"/>
                <a:sym typeface="Calibri"/>
              </a:rPr>
              <a:t>Non-Linear by Design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4983480" y="2194560"/>
            <a:ext cx="3794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Hundreds of decision trees each learn different threshold rules — no linearity assumption needed.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4983480" y="2880360"/>
            <a:ext cx="3794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7FA8"/>
                </a:solidFill>
                <a:latin typeface="Calibri"/>
                <a:ea typeface="Calibri"/>
                <a:cs typeface="Calibri"/>
                <a:sym typeface="Calibri"/>
              </a:rPr>
              <a:t>Automatic Interaction Detection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4983480" y="3154680"/>
            <a:ext cx="3794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Splits at nodes inherently capture interactions: e.g. when AT &gt; 25°C AND RH &lt; 60%, PE drops sharply.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4983480" y="3840480"/>
            <a:ext cx="3794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7FA8"/>
                </a:solidFill>
                <a:latin typeface="Calibri"/>
                <a:ea typeface="Calibri"/>
                <a:cs typeface="Calibri"/>
                <a:sym typeface="Calibri"/>
              </a:rPr>
              <a:t>Ensemble Averaging (Bagging)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4983480" y="4114800"/>
            <a:ext cx="3794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Averaging predictions across 100+ trees cancels out individual errors, reducing variance and overfitting significantly.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3D62"/>
          </a:solidFill>
          <a:ln cap="flat" cmpd="sng" w="12700">
            <a:solidFill>
              <a:srgbClr val="0A3D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8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1B7FA8"/>
          </a:solidFill>
          <a:ln cap="flat" cmpd="sng" w="12700">
            <a:solidFill>
              <a:srgbClr val="1B7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8"/>
          <p:cNvSpPr/>
          <p:nvPr/>
        </p:nvSpPr>
        <p:spPr>
          <a:xfrm>
            <a:off x="411480" y="13716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Recommendation &amp; Next Steps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274320" y="1078992"/>
            <a:ext cx="8595360" cy="1389888"/>
          </a:xfrm>
          <a:prstGeom prst="rect">
            <a:avLst/>
          </a:prstGeom>
          <a:solidFill>
            <a:srgbClr val="132438"/>
          </a:solidFill>
          <a:ln cap="flat" cmpd="sng" w="254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274320" y="1078992"/>
            <a:ext cx="109728" cy="1389888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0" name="Google Shape;26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64" y="124358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8"/>
          <p:cNvSpPr/>
          <p:nvPr/>
        </p:nvSpPr>
        <p:spPr>
          <a:xfrm>
            <a:off x="1078992" y="1152144"/>
            <a:ext cx="7680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Deploy Random Forest as the Production Prediction Engine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1078992" y="1572768"/>
            <a:ext cx="7680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  <a:t>RMSE 3.40 MW on the held-out test set (R² ≈ 0.96) confirms reliable, production-grade accuracy. The 21% improvement over the baseline means the plant gains approximately 0.91 MW of additional forecasting precision per prediction — valuable for real-time grid dispatch and fuel scheduling.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274320" y="2596896"/>
            <a:ext cx="8595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7FA8"/>
                </a:solidFill>
                <a:latin typeface="Calibri"/>
                <a:ea typeface="Calibri"/>
                <a:cs typeface="Calibri"/>
                <a:sym typeface="Calibri"/>
              </a:rPr>
              <a:t>NEXT STEPS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274320" y="2962656"/>
            <a:ext cx="2743200" cy="1920240"/>
          </a:xfrm>
          <a:prstGeom prst="rect">
            <a:avLst/>
          </a:prstGeom>
          <a:solidFill>
            <a:srgbClr val="132438"/>
          </a:solidFill>
          <a:ln cap="flat" cmpd="sng" w="15225">
            <a:solidFill>
              <a:srgbClr val="1B7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8"/>
          <p:cNvSpPr/>
          <p:nvPr/>
        </p:nvSpPr>
        <p:spPr>
          <a:xfrm>
            <a:off x="274320" y="2962656"/>
            <a:ext cx="2743200" cy="54864"/>
          </a:xfrm>
          <a:prstGeom prst="rect">
            <a:avLst/>
          </a:prstGeom>
          <a:solidFill>
            <a:srgbClr val="1B7FA8"/>
          </a:solidFill>
          <a:ln cap="flat" cmpd="sng" w="12700">
            <a:solidFill>
              <a:srgbClr val="1B7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6" name="Google Shape;26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2336" y="306324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8"/>
          <p:cNvSpPr/>
          <p:nvPr/>
        </p:nvSpPr>
        <p:spPr>
          <a:xfrm>
            <a:off x="896112" y="3035808"/>
            <a:ext cx="594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A8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B7FA8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402336" y="3529584"/>
            <a:ext cx="24871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A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7FA8"/>
                </a:solidFill>
                <a:latin typeface="Calibri"/>
                <a:ea typeface="Calibri"/>
                <a:cs typeface="Calibri"/>
                <a:sym typeface="Calibri"/>
              </a:rPr>
              <a:t>Deploy &amp; Integrate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402336" y="3913632"/>
            <a:ext cx="2487168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  <a:t>Containerize model (Docker / REST API) and connect to live plant sensor data streams for real-time inference.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3218688" y="2962656"/>
            <a:ext cx="2743200" cy="1920240"/>
          </a:xfrm>
          <a:prstGeom prst="rect">
            <a:avLst/>
          </a:prstGeom>
          <a:solidFill>
            <a:srgbClr val="132438"/>
          </a:solidFill>
          <a:ln cap="flat" cmpd="sng" w="15225">
            <a:solidFill>
              <a:srgbClr val="48AE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8"/>
          <p:cNvSpPr/>
          <p:nvPr/>
        </p:nvSpPr>
        <p:spPr>
          <a:xfrm>
            <a:off x="3218688" y="2962656"/>
            <a:ext cx="2743200" cy="54864"/>
          </a:xfrm>
          <a:prstGeom prst="rect">
            <a:avLst/>
          </a:prstGeom>
          <a:solidFill>
            <a:srgbClr val="48AEE0"/>
          </a:solidFill>
          <a:ln cap="flat" cmpd="sng" w="12700">
            <a:solidFill>
              <a:srgbClr val="48AE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2" name="Google Shape;27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46704" y="306324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8"/>
          <p:cNvSpPr/>
          <p:nvPr/>
        </p:nvSpPr>
        <p:spPr>
          <a:xfrm>
            <a:off x="3840480" y="3035808"/>
            <a:ext cx="594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AEE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48AEE0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3346704" y="3529584"/>
            <a:ext cx="24871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AEE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8AEE0"/>
                </a:solidFill>
                <a:latin typeface="Calibri"/>
                <a:ea typeface="Calibri"/>
                <a:cs typeface="Calibri"/>
                <a:sym typeface="Calibri"/>
              </a:rPr>
              <a:t>Hyperparameter Tuning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3346704" y="3913632"/>
            <a:ext cx="2487168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  <a:t>Run GridSearchCV on n_estimators, max_depth, min_samples_split to push RMSE below 3.0 MW.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6163056" y="2962656"/>
            <a:ext cx="2743200" cy="1920240"/>
          </a:xfrm>
          <a:prstGeom prst="rect">
            <a:avLst/>
          </a:prstGeom>
          <a:solidFill>
            <a:srgbClr val="132438"/>
          </a:solidFill>
          <a:ln cap="flat" cmpd="sng" w="15225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8"/>
          <p:cNvSpPr/>
          <p:nvPr/>
        </p:nvSpPr>
        <p:spPr>
          <a:xfrm>
            <a:off x="6163056" y="2962656"/>
            <a:ext cx="2743200" cy="54864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8" name="Google Shape;278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91072" y="306324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8"/>
          <p:cNvSpPr/>
          <p:nvPr/>
        </p:nvSpPr>
        <p:spPr>
          <a:xfrm>
            <a:off x="6784848" y="3035808"/>
            <a:ext cx="594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6291072" y="3529584"/>
            <a:ext cx="24871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Monitor &amp; Retrain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6291072" y="3913632"/>
            <a:ext cx="2487168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  <a:t>Track prediction drift via RMSE on live data. Schedule quarterly retraining as plant conditions evolve.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0" y="4882896"/>
            <a:ext cx="9144000" cy="265176"/>
          </a:xfrm>
          <a:prstGeom prst="rect">
            <a:avLst/>
          </a:prstGeom>
          <a:solidFill>
            <a:srgbClr val="0A3D62"/>
          </a:solidFill>
          <a:ln cap="flat" cmpd="sng" w="12700">
            <a:solidFill>
              <a:srgbClr val="0A3D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8"/>
          <p:cNvSpPr/>
          <p:nvPr/>
        </p:nvSpPr>
        <p:spPr>
          <a:xfrm>
            <a:off x="0" y="4901184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Combined Cycle Power Plant  ·  ML Energy Output Prediction  ·  Confidential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2026-04-05T17:51:38Z</dcterms:created>
  <dc:creator>PptxGenJS</dc:creator>
</cp:coreProperties>
</file>